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20"/>
    <p:sldId id="269" r:id="rId21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47"/>
  </p:normalViewPr>
  <p:slideViewPr>
    <p:cSldViewPr snapToGrid="0" snapToObjects="1">
      <p:cViewPr varScale="1">
        <p:scale>
          <a:sx n="149" d="100"/>
          <a:sy n="149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openxmlformats.org/officeDocument/2006/relationships/slide" Target="slides/slide6.xml"/><Relationship Id="rId21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bright Anyaibe" userId="8f502989-1889-41d0-8930-e05ff0e57aa2" providerId="ADAL" clId="{30FC4781-7F77-52EA-AC35-A5A88D5C31E7}"/>
    <pc:docChg chg="modSld">
      <pc:chgData name="Jonbright Anyaibe" userId="8f502989-1889-41d0-8930-e05ff0e57aa2" providerId="ADAL" clId="{30FC4781-7F77-52EA-AC35-A5A88D5C31E7}" dt="2026-09-08T21:02:13.411" v="99" actId="20577"/>
      <pc:docMkLst>
        <pc:docMk/>
      </pc:docMkLst>
      <pc:sldChg chg="modNotesTx">
        <pc:chgData name="Jonbright Anyaibe" userId="8f502989-1889-41d0-8930-e05ff0e57aa2" providerId="ADAL" clId="{30FC4781-7F77-52EA-AC35-A5A88D5C31E7}" dt="2026-09-08T20:51:40.546" v="25" actId="20577"/>
        <pc:sldMkLst>
          <pc:docMk/>
          <pc:sldMk cId="0" sldId="260"/>
        </pc:sldMkLst>
      </pc:sldChg>
      <pc:sldChg chg="modNotesTx">
        <pc:chgData name="Jonbright Anyaibe" userId="8f502989-1889-41d0-8930-e05ff0e57aa2" providerId="ADAL" clId="{30FC4781-7F77-52EA-AC35-A5A88D5C31E7}" dt="2026-09-08T21:02:13.411" v="99" actId="20577"/>
        <pc:sldMkLst>
          <pc:docMk/>
          <pc:sldMk cId="0" sldId="26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1A8C3-D8E0-6E42-B013-9C8DBF0E4F61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B7A4E-3461-E24F-AC8B-423F5EFE7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11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many are direct versus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B7A4E-3461-E24F-AC8B-423F5EFE72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65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Is any context lost by force fitting or by not force 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B7A4E-3461-E24F-AC8B-423F5EFE72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6244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548640"/>
            <a:ext cx="2377440" cy="2377440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21440" y="-548640"/>
            <a:ext cx="1463040" cy="1463040"/>
          </a:xfrm>
          <a:prstGeom prst="ellipse">
            <a:avLst/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73152"/>
          </a:xfrm>
          <a:prstGeom prst="rect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C9D8"/>
                </a:solidFill>
                <a:latin typeface="Calibri"/>
              </a:rPr>
              <a:t>CIBMTR  ·  TERMINOLOGY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058400" cy="10058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UDM → OMOP CDM v5.4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058400" cy="64008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CFDDE8"/>
                </a:solidFill>
                <a:latin typeface="Calibri"/>
              </a:rPr>
              <a:t>Mapping Strategy &amp; Data Migration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148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etl_omop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41148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DuckDB-first ELT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41148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D9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CIT_UDM (Oracle)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FB7C7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7D8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Oval 6"/>
          <p:cNvSpPr/>
          <p:nvPr/>
        </p:nvSpPr>
        <p:spPr>
          <a:xfrm>
            <a:off x="11658600" y="6473952"/>
            <a:ext cx="292608" cy="292608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3949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7512" y="1673351"/>
            <a:ext cx="493776" cy="493776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581912"/>
            <a:ext cx="4434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F2C4C"/>
                </a:solidFill>
                <a:latin typeface="Calibri"/>
              </a:rPr>
              <a:t>Why this project</a:t>
            </a:r>
          </a:p>
          <a:p>
            <a:r>
              <a:rPr sz="1150">
                <a:solidFill>
                  <a:srgbClr val="5A6B7B"/>
                </a:solidFill>
                <a:latin typeface="Calibri"/>
              </a:rPr>
              <a:t>Direction, and what problem we're solving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41448"/>
            <a:ext cx="53949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7512" y="2606040"/>
            <a:ext cx="493776" cy="493776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514600"/>
            <a:ext cx="4434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F2C4C"/>
                </a:solidFill>
                <a:latin typeface="Calibri"/>
              </a:rPr>
              <a:t>Architecture</a:t>
            </a:r>
          </a:p>
          <a:p>
            <a:r>
              <a:rPr sz="1150">
                <a:solidFill>
                  <a:srgbClr val="5A6B7B"/>
                </a:solidFill>
                <a:latin typeface="Calibri"/>
              </a:rPr>
              <a:t>How data flows: Oracle → DuckDB → Postgres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74136"/>
            <a:ext cx="53949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67512" y="3538728"/>
            <a:ext cx="493776" cy="493776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47288"/>
            <a:ext cx="4434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F2C4C"/>
                </a:solidFill>
                <a:latin typeface="Calibri"/>
              </a:rPr>
              <a:t>What's built</a:t>
            </a:r>
          </a:p>
          <a:p>
            <a:r>
              <a:rPr sz="1150">
                <a:solidFill>
                  <a:srgbClr val="5A6B7B"/>
                </a:solidFill>
                <a:latin typeface="Calibri"/>
              </a:rPr>
              <a:t>6 OMOP domains, validated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06824"/>
            <a:ext cx="53949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7512" y="4471416"/>
            <a:ext cx="493776" cy="493776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379976"/>
            <a:ext cx="4434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F2C4C"/>
                </a:solidFill>
                <a:latin typeface="Calibri"/>
              </a:rPr>
              <a:t>Recent breakthrough</a:t>
            </a:r>
          </a:p>
          <a:p>
            <a:r>
              <a:rPr sz="1150">
                <a:solidFill>
                  <a:srgbClr val="5A6B7B"/>
                </a:solidFill>
                <a:latin typeface="Calibri"/>
              </a:rPr>
              <a:t>Two long-standing blockers resolved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39512"/>
            <a:ext cx="53949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7512" y="5404104"/>
            <a:ext cx="493776" cy="493776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12664"/>
            <a:ext cx="4434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F2C4C"/>
                </a:solidFill>
                <a:latin typeface="Calibri"/>
              </a:rPr>
              <a:t>What's not started</a:t>
            </a:r>
          </a:p>
          <a:p>
            <a:r>
              <a:rPr sz="1150">
                <a:solidFill>
                  <a:srgbClr val="5A6B7B"/>
                </a:solidFill>
                <a:latin typeface="Calibri"/>
              </a:rPr>
              <a:t>And why — the vocabulary problem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508760"/>
            <a:ext cx="53949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28232" y="1673351"/>
            <a:ext cx="493776" cy="493776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1581912"/>
            <a:ext cx="4434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F2C4C"/>
                </a:solidFill>
                <a:latin typeface="Calibri"/>
              </a:rPr>
              <a:t>Infrastructure</a:t>
            </a:r>
          </a:p>
          <a:p>
            <a:r>
              <a:rPr sz="1150">
                <a:solidFill>
                  <a:srgbClr val="5A6B7B"/>
                </a:solidFill>
                <a:latin typeface="Calibri"/>
              </a:rPr>
              <a:t>Incremental load &amp; data contracts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441448"/>
            <a:ext cx="53949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28232" y="2606040"/>
            <a:ext cx="493776" cy="493776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514600"/>
            <a:ext cx="4434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F2C4C"/>
                </a:solidFill>
                <a:latin typeface="Calibri"/>
              </a:rPr>
              <a:t>Open questions</a:t>
            </a:r>
          </a:p>
          <a:p>
            <a:r>
              <a:rPr sz="1150">
                <a:solidFill>
                  <a:srgbClr val="5A6B7B"/>
                </a:solidFill>
                <a:latin typeface="Calibri"/>
              </a:rPr>
              <a:t>Needing sign-off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374136"/>
            <a:ext cx="53949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28232" y="3538728"/>
            <a:ext cx="493776" cy="493776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447288"/>
            <a:ext cx="4434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F2C4C"/>
                </a:solidFill>
                <a:latin typeface="Calibri"/>
              </a:rPr>
              <a:t>Path to Postgres</a:t>
            </a:r>
          </a:p>
          <a:p>
            <a:r>
              <a:rPr sz="1150">
                <a:solidFill>
                  <a:srgbClr val="5A6B7B"/>
                </a:solidFill>
                <a:latin typeface="Calibri"/>
              </a:rPr>
              <a:t>Migration steps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306824"/>
            <a:ext cx="53949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28232" y="4471416"/>
            <a:ext cx="493776" cy="493776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379976"/>
            <a:ext cx="4434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F2C4C"/>
                </a:solidFill>
                <a:latin typeface="Calibri"/>
              </a:rPr>
              <a:t>Next steps</a:t>
            </a:r>
          </a:p>
          <a:p>
            <a:r>
              <a:rPr sz="1150">
                <a:solidFill>
                  <a:srgbClr val="5A6B7B"/>
                </a:solidFill>
                <a:latin typeface="Calibri"/>
              </a:rPr>
              <a:t>Proposed roadmap &amp; 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7D8"/>
                </a:solidFill>
                <a:latin typeface="Calibri"/>
              </a:rPr>
              <a:t>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Why This Project</a:t>
            </a:r>
          </a:p>
        </p:txBody>
      </p:sp>
      <p:sp>
        <p:nvSpPr>
          <p:cNvPr id="7" name="Oval 6"/>
          <p:cNvSpPr/>
          <p:nvPr/>
        </p:nvSpPr>
        <p:spPr>
          <a:xfrm>
            <a:off x="11658600" y="6473952"/>
            <a:ext cx="292608" cy="292608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384048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Confirmed 2026-07-16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874519"/>
            <a:ext cx="502920" cy="502920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00200"/>
            <a:ext cx="1033271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0F2C4C"/>
                </a:solidFill>
                <a:latin typeface="Calibri"/>
              </a:rPr>
              <a:t>Adaptation, not a new warehouse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5A6B7B"/>
                </a:solidFill>
                <a:latin typeface="Calibri"/>
              </a:rPr>
              <a:t>OMOP CDM v5.4 will be delivered as an adaptation of CIT_UDM (Oracle) — not a new Postgres warehouse built from scratch.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063239"/>
            <a:ext cx="502920" cy="502920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88920"/>
            <a:ext cx="1033271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0F2C4C"/>
                </a:solidFill>
                <a:latin typeface="Calibri"/>
              </a:rPr>
              <a:t>Terminology Services stays vocab-only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5A6B7B"/>
                </a:solidFill>
                <a:latin typeface="Calibri"/>
              </a:rPr>
              <a:t>Those databases remain vocab/metadata only — no clinical CDM data lands there.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51959"/>
            <a:ext cx="502920" cy="502920"/>
          </a:xfrm>
          <a:prstGeom prst="ellipse">
            <a:avLst/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39"/>
            <a:ext cx="1033271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0F2C4C"/>
                </a:solidFill>
                <a:latin typeface="Calibri"/>
              </a:rPr>
              <a:t>CIT_UDM over raw FormsNet/FDM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5A6B7B"/>
                </a:solidFill>
                <a:latin typeface="Calibri"/>
              </a:rPr>
              <a:t>CIT_UDM is the more tractable, already-consolidated source vs. re-deriving from FDM forms directly.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40679"/>
            <a:ext cx="502920" cy="502920"/>
          </a:xfrm>
          <a:prstGeom prst="ellipse">
            <a:avLst/>
          </a:prstGeom>
          <a:solidFill>
            <a:srgbClr val="D9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166359"/>
            <a:ext cx="1033271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0F2C4C"/>
                </a:solidFill>
                <a:latin typeface="Calibri"/>
              </a:rPr>
              <a:t>First real clinical ETL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5A6B7B"/>
                </a:solidFill>
                <a:latin typeface="Calibri"/>
              </a:rPr>
              <a:t>etl_omop is the first concrete clinical row-level ETL toward OMOP from either FDM or UDM — prior FDM→OMOP work was a routing strategy document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7D8"/>
                </a:solidFill>
                <a:latin typeface="Calibri"/>
              </a:rP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Architecture: Raw Layer, Then Transform (ELT)</a:t>
            </a:r>
          </a:p>
        </p:txBody>
      </p:sp>
      <p:sp>
        <p:nvSpPr>
          <p:cNvPr id="7" name="Oval 6"/>
          <p:cNvSpPr/>
          <p:nvPr/>
        </p:nvSpPr>
        <p:spPr>
          <a:xfrm>
            <a:off x="11658600" y="6473952"/>
            <a:ext cx="292608" cy="292608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2331720" cy="1554480"/>
          </a:xfrm>
          <a:prstGeom prst="roundRect">
            <a:avLst>
              <a:gd name="adj" fmla="val 12000"/>
            </a:avLst>
          </a:prstGeom>
          <a:solidFill>
            <a:srgbClr val="D9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31619" y="1901952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D94E4E"/>
                </a:solidFill>
                <a:latin typeface="Calibri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39"/>
            <a:ext cx="233172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CIT_UDM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1"/>
            <a:ext cx="233172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6ECF0"/>
                </a:solidFill>
                <a:latin typeface="Calibri"/>
              </a:rPr>
              <a:t>Oracle (source)</a:t>
            </a:r>
          </a:p>
        </p:txBody>
      </p:sp>
      <p:sp>
        <p:nvSpPr>
          <p:cNvPr id="12" name="Chevron 11"/>
          <p:cNvSpPr/>
          <p:nvPr/>
        </p:nvSpPr>
        <p:spPr>
          <a:xfrm>
            <a:off x="3063239" y="2313432"/>
            <a:ext cx="411480" cy="402336"/>
          </a:xfrm>
          <a:prstGeom prst="chevron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20439" y="1737360"/>
            <a:ext cx="2331720" cy="1554480"/>
          </a:xfrm>
          <a:prstGeom prst="roundRect">
            <a:avLst>
              <a:gd name="adj" fmla="val 12000"/>
            </a:avLst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66260" y="1901952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5A6B7B"/>
                </a:solidFill>
                <a:latin typeface="Calibri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2606039"/>
            <a:ext cx="233172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raw.*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2907791"/>
            <a:ext cx="233172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6ECF0"/>
                </a:solidFill>
                <a:latin typeface="Calibri"/>
              </a:rPr>
              <a:t>DuckDB (bronze)</a:t>
            </a:r>
          </a:p>
        </p:txBody>
      </p:sp>
      <p:sp>
        <p:nvSpPr>
          <p:cNvPr id="17" name="Chevron 16"/>
          <p:cNvSpPr/>
          <p:nvPr/>
        </p:nvSpPr>
        <p:spPr>
          <a:xfrm>
            <a:off x="5897879" y="2313432"/>
            <a:ext cx="411480" cy="402336"/>
          </a:xfrm>
          <a:prstGeom prst="chevron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55079" y="1737360"/>
            <a:ext cx="2331720" cy="1554480"/>
          </a:xfrm>
          <a:prstGeom prst="roundRect">
            <a:avLst>
              <a:gd name="adj" fmla="val 12000"/>
            </a:avLst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200900" y="1901952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1F4E78"/>
                </a:solidFill>
                <a:latin typeface="Calibri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2606039"/>
            <a:ext cx="233172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omop.*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2907791"/>
            <a:ext cx="233172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6ECF0"/>
                </a:solidFill>
                <a:latin typeface="Calibri"/>
              </a:rPr>
              <a:t>DuckDB (CDM)</a:t>
            </a:r>
          </a:p>
        </p:txBody>
      </p:sp>
      <p:sp>
        <p:nvSpPr>
          <p:cNvPr id="22" name="Chevron 21"/>
          <p:cNvSpPr/>
          <p:nvPr/>
        </p:nvSpPr>
        <p:spPr>
          <a:xfrm>
            <a:off x="8732520" y="2313432"/>
            <a:ext cx="411480" cy="402336"/>
          </a:xfrm>
          <a:prstGeom prst="chevron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89719" y="1737360"/>
            <a:ext cx="2331720" cy="1554480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035540" y="1901952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2E9E5B"/>
                </a:solidFill>
                <a:latin typeface="Calibri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2606039"/>
            <a:ext cx="233172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Postgres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2907791"/>
            <a:ext cx="233172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6ECF0"/>
                </a:solidFill>
                <a:latin typeface="Calibri"/>
              </a:rPr>
              <a:t>OMOP CDM (target)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65760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8680" y="385876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build_raw_layer.py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730752"/>
            <a:ext cx="7452360" cy="64008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Only script that talks to Oracle. Read-only SELECTs, verbatim copies. raw_contracts.py drives incremental vs. full-refresh per table.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57200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" y="477316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run_sql.py &lt;file&gt;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645152"/>
            <a:ext cx="7452360" cy="64008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Builds omop.* entirely from raw.* — no Oracle access, cheap to re-run/iterate locally.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68680" y="568756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load_to_postgres.py --all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559552"/>
            <a:ext cx="7452360" cy="64008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Promotes validated omop.* tables via DuckDB's postgres ATTACH extension, once a target exists.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19088"/>
            <a:ext cx="10515600" cy="2743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7B"/>
                </a:solidFill>
                <a:latin typeface="Calibri"/>
              </a:rPr>
              <a:t>DuckDB is a disposable local sandbox — mapping mistakes are free to fix, zero risk to production Oracle.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7D8"/>
                </a:solidFill>
                <a:latin typeface="Calibri"/>
              </a:rPr>
              <a:t>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What's Built &amp; Validated Today</a:t>
            </a:r>
          </a:p>
        </p:txBody>
      </p:sp>
      <p:sp>
        <p:nvSpPr>
          <p:cNvPr id="7" name="Oval 6"/>
          <p:cNvSpPr/>
          <p:nvPr/>
        </p:nvSpPr>
        <p:spPr>
          <a:xfrm>
            <a:off x="11658600" y="6473952"/>
            <a:ext cx="292608" cy="292608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822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618488"/>
            <a:ext cx="324612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C4C"/>
                </a:solidFill>
                <a:latin typeface="Calibri"/>
              </a:rPr>
              <a:t>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84248"/>
            <a:ext cx="3246120" cy="5486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r>
              <a:t>6,356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32888"/>
            <a:ext cx="3246120" cy="2286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r>
              <a:t>live DuckDB check 2026-09-10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3464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Validated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3246120" cy="3200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0">
                <a:solidFill>
                  <a:srgbClr val="5B6B76"/>
                </a:solidFill>
                <a:latin typeface="Aptos"/>
              </a:defRPr>
            </a:pPr>
            <a:r>
              <a:t>Unique IDs; sentinel DOB handling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1732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97680" y="1417320"/>
            <a:ext cx="3611880" cy="822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618488"/>
            <a:ext cx="324612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C4C"/>
                </a:solidFill>
                <a:latin typeface="Calibri"/>
              </a:rPr>
              <a:t>visit_occurrence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84248"/>
            <a:ext cx="3246120" cy="5486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22B33"/>
                </a:solidFill>
                <a:latin typeface="Calibri"/>
              </a:rPr>
              <a:t>4,611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532888"/>
            <a:ext cx="3246120" cy="2286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r>
              <a:t>live DuckDB check 2026-09-10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83464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Validated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200400"/>
            <a:ext cx="3246120" cy="3200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0">
                <a:solidFill>
                  <a:srgbClr val="5B6B76"/>
                </a:solidFill>
                <a:latin typeface="Aptos"/>
              </a:defRPr>
            </a:pPr>
            <a:r>
              <a:t>Admission scope and date rules verified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41732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92440" y="1417320"/>
            <a:ext cx="3611880" cy="822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1618488"/>
            <a:ext cx="324612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C4C"/>
                </a:solidFill>
                <a:latin typeface="Calibri"/>
              </a:rPr>
              <a:t>observation_period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984248"/>
            <a:ext cx="3246120" cy="5486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22B33"/>
                </a:solidFill>
                <a:latin typeface="Calibri"/>
              </a:rPr>
              <a:t>5,051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532888"/>
            <a:ext cx="3246120" cy="2286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r>
              <a:t>live DuckDB check 2026-09-10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83464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Validated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200400"/>
            <a:ext cx="3246120" cy="3200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0">
                <a:solidFill>
                  <a:srgbClr val="5B6B76"/>
                </a:solidFill>
                <a:latin typeface="Aptos"/>
              </a:defRPr>
            </a:pPr>
            <a:r>
              <a:t>One period/person; date ordering verified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74904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02920" y="3749040"/>
            <a:ext cx="3611880" cy="822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3950208"/>
            <a:ext cx="324612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C4C"/>
                </a:solidFill>
                <a:latin typeface="Calibri"/>
              </a:rPr>
              <a:t>death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15968"/>
            <a:ext cx="3246120" cy="5486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22B33"/>
                </a:solidFill>
                <a:latin typeface="Calibri"/>
              </a:rPr>
              <a:t>1,266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864608"/>
            <a:ext cx="3246120" cy="2286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r>
              <a:t>live DuckDB check 2026-09-10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16636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Validated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532120"/>
            <a:ext cx="3246120" cy="3200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0">
                <a:solidFill>
                  <a:srgbClr val="5B6B76"/>
                </a:solidFill>
                <a:latin typeface="Aptos"/>
              </a:defRPr>
            </a:pPr>
            <a:r>
              <a:t>Latest status/person; required date verified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74904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297680" y="3749040"/>
            <a:ext cx="3611880" cy="82296"/>
          </a:xfrm>
          <a:prstGeom prst="roundRect">
            <a:avLst>
              <a:gd name="adj" fmla="val 50000"/>
            </a:avLst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0" y="3950208"/>
            <a:ext cx="324612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C4C"/>
                </a:solidFill>
                <a:latin typeface="Calibri"/>
              </a:rPr>
              <a:t>procedure_occurrence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315968"/>
            <a:ext cx="3246120" cy="5486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22B33"/>
                </a:solidFill>
                <a:latin typeface="Calibri"/>
              </a:rPr>
              <a:t>4,224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864608"/>
            <a:ext cx="3246120" cy="2286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r>
              <a:t>live DuckDB check 2026-09-10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0560" y="516636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v1 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5532120"/>
            <a:ext cx="3246120" cy="3200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0">
                <a:solidFill>
                  <a:srgbClr val="5B6B76"/>
                </a:solidFill>
                <a:latin typeface="Aptos"/>
              </a:defRPr>
            </a:pPr>
            <a:r>
              <a:t>HCT/CT scope verified; visit FK issue flagged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374904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092440" y="3749040"/>
            <a:ext cx="3611880" cy="82296"/>
          </a:xfrm>
          <a:prstGeom prst="roundRect">
            <a:avLst>
              <a:gd name="adj" fmla="val 50000"/>
            </a:avLst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75320" y="3950208"/>
            <a:ext cx="324612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C4C"/>
                </a:solidFill>
                <a:latin typeface="Calibri"/>
              </a:rPr>
              <a:t>condition_occurrence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315968"/>
            <a:ext cx="3246120" cy="5486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22B33"/>
                </a:solidFill>
                <a:latin typeface="Calibri"/>
              </a:rPr>
              <a:t>200,550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4864608"/>
            <a:ext cx="3246120" cy="2286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r>
              <a:t>live DuckDB check 2026-09-10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75320" y="516636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Lossy v1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5532120"/>
            <a:ext cx="3246120" cy="3200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0">
                <a:solidFill>
                  <a:srgbClr val="5B6B76"/>
                </a:solidFill>
                <a:latin typeface="Aptos"/>
              </a:defRPr>
            </a:pPr>
            <a:r>
              <a:t>Full source scope; visit FK issue flagged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172200"/>
            <a:ext cx="10789920" cy="27432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defRPr sz="950" b="0">
                <a:solidFill>
                  <a:srgbClr val="5B6B76"/>
                </a:solidFill>
                <a:latin typeface="Aptos"/>
              </a:defRPr>
            </a:pPr>
            <a:r>
              <a:t>Detailed OMOP fields, checks, and live results are shown on the next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24128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2000" cy="36576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1">
                <a:solidFill>
                  <a:srgbClr val="00A699"/>
                </a:solidFill>
                <a:latin typeface="Aptos"/>
              </a:defRPr>
            </a:pPr>
            <a:r>
              <a:t>VALIDATION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8778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OMOP Fields Used for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93192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Live DuckDB | 2026-09-10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61872"/>
            <a:ext cx="553212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64008" cy="1627632"/>
          </a:xfrm>
          <a:prstGeom prst="rect">
            <a:avLst/>
          </a:prstGeom>
          <a:solidFill>
            <a:srgbClr val="2A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417319"/>
            <a:ext cx="310896" cy="310896"/>
          </a:xfrm>
          <a:prstGeom prst="ellipse">
            <a:avLst/>
          </a:prstGeom>
          <a:solidFill>
            <a:srgbClr val="2A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371600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12324A"/>
                </a:solidFill>
                <a:latin typeface="Aptos"/>
              </a:defRPr>
            </a:pPr>
            <a:r>
              <a:t>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380743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1">
                <a:solidFill>
                  <a:srgbClr val="5B6B76"/>
                </a:solidFill>
                <a:latin typeface="Aptos"/>
              </a:defRPr>
            </a:pPr>
            <a:r>
              <a:t>6,356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0328" y="1719072"/>
            <a:ext cx="850392" cy="246888"/>
          </a:xfrm>
          <a:prstGeom prst="roundRect">
            <a:avLst>
              <a:gd name="adj" fmla="val 20000"/>
            </a:avLst>
          </a:prstGeom>
          <a:solidFill>
            <a:srgbClr val="2A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17556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2AA65C"/>
                </a:solidFill>
                <a:latin typeface="Aptos"/>
              </a:defRPr>
            </a:pPr>
            <a:r>
              <a:t>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1947672"/>
            <a:ext cx="50932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50" b="0">
                <a:solidFill>
                  <a:srgbClr val="1E2D39"/>
                </a:solidFill>
                <a:latin typeface="Aptos"/>
              </a:defRPr>
            </a:pPr>
            <a:r>
              <a:t>person_id · gender_concept_id · race_concept_id · ethnicity_concept_id</a:t>
            </a:r>
            <a:br/>
            <a:r>
              <a:t>year_of_birth · birth_datetime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386584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2AA65C"/>
                </a:solidFill>
                <a:latin typeface="Aptos"/>
              </a:defRPr>
            </a:pPr>
            <a:r>
              <a:t>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569463"/>
            <a:ext cx="50932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0">
                <a:solidFill>
                  <a:srgbClr val="5B6B76"/>
                </a:solidFill>
                <a:latin typeface="Aptos"/>
              </a:defRPr>
            </a:pPr>
            <a:r>
              <a:t>person_id unique. Concept IDs non-null; race=0 documented. 2,013 sentinel DOBs intentionally null.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261872"/>
            <a:ext cx="553212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261872"/>
            <a:ext cx="64008" cy="16276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1417319"/>
            <a:ext cx="310896" cy="310896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1371600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12324A"/>
                </a:solidFill>
                <a:latin typeface="Aptos"/>
              </a:defRPr>
            </a:pPr>
            <a:r>
              <a:t>visit_occurrence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88752" y="1380743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1">
                <a:solidFill>
                  <a:srgbClr val="5B6B76"/>
                </a:solidFill>
                <a:latin typeface="Aptos"/>
              </a:defRPr>
            </a:pPr>
            <a:r>
              <a:t>4,611 rows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52760" y="1719072"/>
            <a:ext cx="850392" cy="246888"/>
          </a:xfrm>
          <a:prstGeom prst="roundRect">
            <a:avLst>
              <a:gd name="adj" fmla="val 20000"/>
            </a:avLst>
          </a:prstGeom>
          <a:solidFill>
            <a:srgbClr val="2A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17556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00A699"/>
                </a:solidFill>
                <a:latin typeface="Aptos"/>
              </a:defRPr>
            </a:pPr>
            <a:r>
              <a:t>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1947672"/>
            <a:ext cx="50932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50" b="0">
                <a:solidFill>
                  <a:srgbClr val="1E2D39"/>
                </a:solidFill>
                <a:latin typeface="Aptos"/>
              </a:defRPr>
            </a:pPr>
            <a:r>
              <a:t>visit_occurrence_id · person_id · visit_concept_id · visit_type_concept_id</a:t>
            </a:r>
            <a:br/>
            <a:r>
              <a:t>visit_start_date · visit_end_date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2386584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00A699"/>
                </a:solidFill>
                <a:latin typeface="Aptos"/>
              </a:defRPr>
            </a:pPr>
            <a:r>
              <a:t>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569463"/>
            <a:ext cx="50932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0">
                <a:solidFill>
                  <a:srgbClr val="5B6B76"/>
                </a:solidFill>
                <a:latin typeface="Aptos"/>
              </a:defRPr>
            </a:pPr>
            <a:r>
              <a:t>ID unique; required dates complete; end &gt;= start. Scope limited to top-level HCT/CT admissions.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926080"/>
            <a:ext cx="553212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926080"/>
            <a:ext cx="64008" cy="1627632"/>
          </a:xfrm>
          <a:prstGeom prst="rect">
            <a:avLst/>
          </a:prstGeom>
          <a:solidFill>
            <a:srgbClr val="34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" y="3081528"/>
            <a:ext cx="310896" cy="310896"/>
          </a:xfrm>
          <a:prstGeom prst="ellipse">
            <a:avLst/>
          </a:prstGeom>
          <a:solidFill>
            <a:srgbClr val="34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3035808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12324A"/>
                </a:solidFill>
                <a:latin typeface="Aptos"/>
              </a:defRPr>
            </a:pPr>
            <a:r>
              <a:t>observation_period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044952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1">
                <a:solidFill>
                  <a:srgbClr val="5B6B76"/>
                </a:solidFill>
                <a:latin typeface="Aptos"/>
              </a:defRPr>
            </a:pPr>
            <a:r>
              <a:t>5,051 rows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10328" y="3383280"/>
            <a:ext cx="850392" cy="246888"/>
          </a:xfrm>
          <a:prstGeom prst="roundRect">
            <a:avLst>
              <a:gd name="adj" fmla="val 20000"/>
            </a:avLst>
          </a:prstGeom>
          <a:solidFill>
            <a:srgbClr val="2A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34198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3477B8"/>
                </a:solidFill>
                <a:latin typeface="Aptos"/>
              </a:defRPr>
            </a:pPr>
            <a:r>
              <a:t>FIELDS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3611880"/>
            <a:ext cx="50932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50" b="0">
                <a:solidFill>
                  <a:srgbClr val="1E2D39"/>
                </a:solidFill>
                <a:latin typeface="Aptos"/>
              </a:defRPr>
            </a:pPr>
            <a:r>
              <a:t>observation_period_id · person_id · period_type_concept_id</a:t>
            </a:r>
            <a:br/>
            <a:r>
              <a:t>observation_period_start_date · observation_period_end_date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4050791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3477B8"/>
                </a:solidFill>
                <a:latin typeface="Aptos"/>
              </a:defRPr>
            </a:pPr>
            <a:r>
              <a:t>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4233672"/>
            <a:ext cx="50932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0">
                <a:solidFill>
                  <a:srgbClr val="5B6B76"/>
                </a:solidFill>
                <a:latin typeface="Aptos"/>
              </a:defRPr>
            </a:pPr>
            <a:r>
              <a:t>ID unique; required fields complete; end &gt;= start. One synthesized period per person.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2926080"/>
            <a:ext cx="553212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2" y="2926080"/>
            <a:ext cx="64008" cy="1627632"/>
          </a:xfrm>
          <a:prstGeom prst="rect">
            <a:avLst/>
          </a:prstGeom>
          <a:solidFill>
            <a:srgbClr val="2A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00800" y="3081528"/>
            <a:ext cx="310896" cy="310896"/>
          </a:xfrm>
          <a:prstGeom prst="ellipse">
            <a:avLst/>
          </a:prstGeom>
          <a:solidFill>
            <a:srgbClr val="2A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21424" y="3035808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12324A"/>
                </a:solidFill>
                <a:latin typeface="Aptos"/>
              </a:defRPr>
            </a:pPr>
            <a:r>
              <a:t>death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3044952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1">
                <a:solidFill>
                  <a:srgbClr val="5B6B76"/>
                </a:solidFill>
                <a:latin typeface="Aptos"/>
              </a:defRPr>
            </a:pPr>
            <a:r>
              <a:t>1,266 rows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52760" y="3383280"/>
            <a:ext cx="850392" cy="246888"/>
          </a:xfrm>
          <a:prstGeom prst="roundRect">
            <a:avLst>
              <a:gd name="adj" fmla="val 20000"/>
            </a:avLst>
          </a:prstGeom>
          <a:solidFill>
            <a:srgbClr val="2A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9944" y="34198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2AA65C"/>
                </a:solidFill>
                <a:latin typeface="Aptos"/>
              </a:defRPr>
            </a:pPr>
            <a:r>
              <a:t>FIELDS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3611880"/>
            <a:ext cx="50932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50" b="0">
                <a:solidFill>
                  <a:srgbClr val="1E2D39"/>
                </a:solidFill>
                <a:latin typeface="Aptos"/>
              </a:defRPr>
            </a:pPr>
            <a:r>
              <a:t>person_id · death_date · death_type_concept_id · cause_concept_id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9944" y="4050791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2AA65C"/>
                </a:solidFill>
                <a:latin typeface="Aptos"/>
              </a:defRPr>
            </a:pPr>
            <a:r>
              <a:t>CHECKS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4233672"/>
            <a:ext cx="50932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0">
                <a:solidFill>
                  <a:srgbClr val="5B6B76"/>
                </a:solidFill>
                <a:latin typeface="Aptos"/>
              </a:defRPr>
            </a:pPr>
            <a:r>
              <a:t>One row/person; required fields complete. Latest DEAD status retained; missing death date excluded.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590288"/>
            <a:ext cx="553212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590288"/>
            <a:ext cx="64008" cy="1627632"/>
          </a:xfrm>
          <a:prstGeom prst="rect">
            <a:avLst/>
          </a:prstGeom>
          <a:solidFill>
            <a:srgbClr val="F09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8368" y="4745736"/>
            <a:ext cx="310896" cy="310896"/>
          </a:xfrm>
          <a:prstGeom prst="ellipse">
            <a:avLst/>
          </a:prstGeom>
          <a:solidFill>
            <a:srgbClr val="F09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" y="4700016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12324A"/>
                </a:solidFill>
                <a:latin typeface="Aptos"/>
              </a:defRPr>
            </a:pPr>
            <a:r>
              <a:t>procedure_occurrence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4709159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1">
                <a:solidFill>
                  <a:srgbClr val="5B6B76"/>
                </a:solidFill>
                <a:latin typeface="Aptos"/>
              </a:defRPr>
            </a:pPr>
            <a:r>
              <a:t>4,224 rows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10328" y="5047488"/>
            <a:ext cx="850392" cy="246888"/>
          </a:xfrm>
          <a:prstGeom prst="roundRect">
            <a:avLst>
              <a:gd name="adj" fmla="val 20000"/>
            </a:avLst>
          </a:prstGeom>
          <a:solidFill>
            <a:srgbClr val="D2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FK ISSUE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" y="508406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F0971A"/>
                </a:solidFill>
                <a:latin typeface="Aptos"/>
              </a:defRPr>
            </a:pPr>
            <a:r>
              <a:t>FIELDS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" y="5276088"/>
            <a:ext cx="50932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50" b="0">
                <a:solidFill>
                  <a:srgbClr val="1E2D39"/>
                </a:solidFill>
                <a:latin typeface="Aptos"/>
              </a:defRPr>
            </a:pPr>
            <a:r>
              <a:t>procedure_occurrence_id · person_id · procedure_concept_id</a:t>
            </a:r>
            <a:br/>
            <a:r>
              <a:t>procedure_date/datetime · procedure_type_concept_id · visit_occurrence_id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" y="571500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F0971A"/>
                </a:solidFill>
                <a:latin typeface="Aptos"/>
              </a:defRPr>
            </a:pPr>
            <a:r>
              <a:t>CHECKS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" y="5897879"/>
            <a:ext cx="50932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0">
                <a:solidFill>
                  <a:srgbClr val="5B6B76"/>
                </a:solidFill>
                <a:latin typeface="Aptos"/>
              </a:defRPr>
            </a:pPr>
            <a:r>
              <a:t>ID unique; required fields complete. Visit ID populated 100%, but 0/4,224 match the current visit table.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99632" y="4590288"/>
            <a:ext cx="553212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99632" y="4590288"/>
            <a:ext cx="64008" cy="1627632"/>
          </a:xfrm>
          <a:prstGeom prst="rect">
            <a:avLst/>
          </a:prstGeom>
          <a:solidFill>
            <a:srgbClr val="F09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00800" y="4745736"/>
            <a:ext cx="310896" cy="310896"/>
          </a:xfrm>
          <a:prstGeom prst="ellipse">
            <a:avLst/>
          </a:prstGeom>
          <a:solidFill>
            <a:srgbClr val="F09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21424" y="4700016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12324A"/>
                </a:solidFill>
                <a:latin typeface="Aptos"/>
              </a:defRPr>
            </a:pPr>
            <a:r>
              <a:t>condition_occurrence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88752" y="4709159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1">
                <a:solidFill>
                  <a:srgbClr val="5B6B76"/>
                </a:solidFill>
                <a:latin typeface="Aptos"/>
              </a:defRPr>
            </a:pPr>
            <a:r>
              <a:t>200,550 rows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652760" y="5047488"/>
            <a:ext cx="850392" cy="246888"/>
          </a:xfrm>
          <a:prstGeom prst="roundRect">
            <a:avLst>
              <a:gd name="adj" fmla="val 20000"/>
            </a:avLst>
          </a:prstGeom>
          <a:solidFill>
            <a:srgbClr val="D2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FK ISSUE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9944" y="508406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F0971A"/>
                </a:solidFill>
                <a:latin typeface="Aptos"/>
              </a:defRPr>
            </a:pPr>
            <a:r>
              <a:t>FIELDS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9944" y="5276088"/>
            <a:ext cx="50932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50" b="0">
                <a:solidFill>
                  <a:srgbClr val="1E2D39"/>
                </a:solidFill>
                <a:latin typeface="Aptos"/>
              </a:defRPr>
            </a:pPr>
            <a:r>
              <a:t>condition_occurrence_id · person_id · condition_concept_id</a:t>
            </a:r>
            <a:br/>
            <a:r>
              <a:t>condition_start_date/datetime · condition_type_concept_id · visit_occurrence_id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9944" y="571500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F0971A"/>
                </a:solidFill>
                <a:latin typeface="Aptos"/>
              </a:defRPr>
            </a:pPr>
            <a:r>
              <a:t>CHECKS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9944" y="5897879"/>
            <a:ext cx="50932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0">
                <a:solidFill>
                  <a:srgbClr val="5B6B76"/>
                </a:solidFill>
                <a:latin typeface="Aptos"/>
              </a:defRPr>
            </a:pPr>
            <a:r>
              <a:t>ID unique; required fields complete. Visit ID populated 100%, but 0/200,550 match the current visit table.</a:t>
            </a:r>
          </a:p>
        </p:txBody>
      </p:sp>
      <p:sp>
        <p:nvSpPr>
          <p:cNvPr id="67" name="Oval 66"/>
          <p:cNvSpPr/>
          <p:nvPr/>
        </p:nvSpPr>
        <p:spPr>
          <a:xfrm>
            <a:off x="11594592" y="6446520"/>
            <a:ext cx="256032" cy="256032"/>
          </a:xfrm>
          <a:prstGeom prst="ellipse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7D8"/>
                </a:solidFill>
                <a:latin typeface="Calibri"/>
              </a:rPr>
              <a:t>MILESTONE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Recent Breakthrough — 2026-08-27</a:t>
            </a:r>
          </a:p>
        </p:txBody>
      </p:sp>
      <p:sp>
        <p:nvSpPr>
          <p:cNvPr id="7" name="Oval 6"/>
          <p:cNvSpPr/>
          <p:nvPr/>
        </p:nvSpPr>
        <p:spPr>
          <a:xfrm>
            <a:off x="11658600" y="6473952"/>
            <a:ext cx="292608" cy="292608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A6B7B"/>
                </a:solidFill>
                <a:latin typeface="Calibri"/>
              </a:rPr>
              <a:t>A 38-table list from the team surfaced tables this project hadn't explored yet — two long-standing blockers fell out immediately.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5394960" cy="502920"/>
          </a:xfrm>
          <a:prstGeom prst="roundRect">
            <a:avLst>
              <a:gd name="adj" fmla="val 15000"/>
            </a:avLst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947672"/>
            <a:ext cx="493776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PERSON_RELATION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96312"/>
            <a:ext cx="493776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C4C"/>
                </a:solidFill>
                <a:latin typeface="Calibri"/>
              </a:rPr>
              <a:t>Resolves: allo/auto — blocker open since day one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63239"/>
            <a:ext cx="146304" cy="146304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53511"/>
            <a:ext cx="457200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DONOR_TYPE: ALLO_U / AUTO / ALLO_R / ALLO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630168"/>
            <a:ext cx="146304" cy="146304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520439"/>
            <a:ext cx="457200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The real field — not PRODUCT.SOURCE_TYPE as originally assumed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97096"/>
            <a:ext cx="146304" cy="146304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087368"/>
            <a:ext cx="457200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RECIPIENT_ID / DONOR_ID both join cleanly to PERSON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764024"/>
            <a:ext cx="146304" cy="146304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654296"/>
            <a:ext cx="457200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4,034 / 4,034 rows match — also solves donor-recipient linkage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874519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63640" y="1874519"/>
            <a:ext cx="5394960" cy="502920"/>
          </a:xfrm>
          <a:prstGeom prst="roundRect">
            <a:avLst>
              <a:gd name="adj" fmla="val 15000"/>
            </a:avLst>
          </a:prstGeom>
          <a:solidFill>
            <a:srgbClr val="D9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947672"/>
            <a:ext cx="493776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CONDITION_DETAILS / PROCEDURE_DETAILS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496312"/>
            <a:ext cx="493776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C4C"/>
                </a:solidFill>
                <a:latin typeface="Calibri"/>
              </a:rPr>
              <a:t>Resolves: “rich attributes have no home”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063239"/>
            <a:ext cx="146304" cy="146304"/>
          </a:xfrm>
          <a:prstGeom prst="ellipse">
            <a:avLst/>
          </a:prstGeom>
          <a:solidFill>
            <a:srgbClr val="D9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59" y="2953511"/>
            <a:ext cx="457200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EAV companion tables already exist in CIT_UDM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3630168"/>
            <a:ext cx="146304" cy="146304"/>
          </a:xfrm>
          <a:prstGeom prst="ellipse">
            <a:avLst/>
          </a:prstGeom>
          <a:solidFill>
            <a:srgbClr val="D9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59" y="3520439"/>
            <a:ext cx="457200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Hold GVHD grading, disease staging (ISS/R-ISS/Durie-Salmon)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4197096"/>
            <a:ext cx="146304" cy="146304"/>
          </a:xfrm>
          <a:prstGeom prst="ellipse">
            <a:avLst/>
          </a:prstGeom>
          <a:solidFill>
            <a:srgbClr val="D9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59" y="4087368"/>
            <a:ext cx="457200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Also body site, dosing, protocol intent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764024"/>
            <a:ext cx="146304" cy="146304"/>
          </a:xfrm>
          <a:prstGeom prst="ellipse">
            <a:avLst/>
          </a:prstGeom>
          <a:solidFill>
            <a:srgbClr val="D9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59" y="4654296"/>
            <a:ext cx="457200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No need to invent a companion-OBSERVATION mechanism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172200"/>
            <a:ext cx="5394960" cy="365760"/>
          </a:xfrm>
          <a:prstGeom prst="roundRect">
            <a:avLst>
              <a:gd name="adj" fmla="val 50000"/>
            </a:avLst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Status: documented, not yet wired into a built transform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7D8"/>
                </a:solidFill>
                <a:latin typeface="Calibri"/>
              </a:rPr>
              <a:t>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What's Not Started Yet, and Why</a:t>
            </a:r>
          </a:p>
        </p:txBody>
      </p:sp>
      <p:sp>
        <p:nvSpPr>
          <p:cNvPr id="7" name="Oval 6"/>
          <p:cNvSpPr/>
          <p:nvPr/>
        </p:nvSpPr>
        <p:spPr>
          <a:xfrm>
            <a:off x="11658600" y="6473952"/>
            <a:ext cx="292608" cy="292608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28016" cy="841248"/>
          </a:xfrm>
          <a:prstGeom prst="rect">
            <a:avLst/>
          </a:prstGeom>
          <a:solidFill>
            <a:srgbClr val="D9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329184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C4C"/>
                </a:solidFill>
                <a:latin typeface="Calibri"/>
              </a:rPr>
              <a:t>OBSERVATION (labs/vitals)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490472"/>
            <a:ext cx="45720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A6B7B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90472"/>
            <a:ext cx="246888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4E4E"/>
                </a:solidFill>
                <a:latin typeface="Calibri"/>
              </a:rPr>
              <a:t>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490472"/>
            <a:ext cx="411480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7B"/>
                </a:solidFill>
                <a:latin typeface="Calibri"/>
              </a:rPr>
              <a:t>No vocabulary crosswalk — 840 distinct LAB_PROC codes need hand-mapping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68296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368296"/>
            <a:ext cx="128016" cy="841248"/>
          </a:xfrm>
          <a:prstGeom prst="rect">
            <a:avLst/>
          </a:prstGeom>
          <a:solidFill>
            <a:srgbClr val="D9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8"/>
            <a:ext cx="329184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C4C"/>
                </a:solidFill>
                <a:latin typeface="Calibri"/>
              </a:rPr>
              <a:t>OBSERVATION (other)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441448"/>
            <a:ext cx="45720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A6B7B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41448"/>
            <a:ext cx="246888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4E4E"/>
                </a:solidFill>
                <a:latin typeface="Calibri"/>
              </a:rPr>
              <a:t>OBSERVATION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441448"/>
            <a:ext cx="411480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7B"/>
                </a:solidFill>
                <a:latin typeface="Calibri"/>
              </a:rPr>
              <a:t>Same vocabulary 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19272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319272"/>
            <a:ext cx="128016" cy="841248"/>
          </a:xfrm>
          <a:prstGeom prst="rect">
            <a:avLst/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392424"/>
            <a:ext cx="329184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C4C"/>
                </a:solidFill>
                <a:latin typeface="Calibri"/>
              </a:rPr>
              <a:t>SUBSTANCE_ADMINISTRATION +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392424"/>
            <a:ext cx="45720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A6B7B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392424"/>
            <a:ext cx="246888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8E1E"/>
                </a:solidFill>
                <a:latin typeface="Calibri"/>
              </a:rPr>
              <a:t>DRUG_EXPOSURE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392424"/>
            <a:ext cx="411480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7B"/>
                </a:solidFill>
                <a:latin typeface="Calibri"/>
              </a:rPr>
              <a:t>Not started — also where most leftover PROCEDURE rows belong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70248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270248"/>
            <a:ext cx="128016" cy="841248"/>
          </a:xfrm>
          <a:prstGeom prst="rect">
            <a:avLst/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343400"/>
            <a:ext cx="329184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C4C"/>
                </a:solidFill>
                <a:latin typeface="Calibri"/>
              </a:rPr>
              <a:t>ORGANIZATION + details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343400"/>
            <a:ext cx="45720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A6B7B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343400"/>
            <a:ext cx="246888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8E1E"/>
                </a:solidFill>
                <a:latin typeface="Calibri"/>
              </a:rPr>
              <a:t>CARE_SITE +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343400"/>
            <a:ext cx="411480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7B"/>
                </a:solidFill>
                <a:latin typeface="Calibri"/>
              </a:rPr>
              <a:t>Not started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221224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5221224"/>
            <a:ext cx="128016" cy="841248"/>
          </a:xfrm>
          <a:prstGeom prst="rect">
            <a:avLst/>
          </a:prstGeom>
          <a:solidFill>
            <a:srgbClr val="D9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294376"/>
            <a:ext cx="329184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C4C"/>
                </a:solidFill>
                <a:latin typeface="Calibri"/>
              </a:rPr>
              <a:t>PRODUCT family (7 tables)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294376"/>
            <a:ext cx="45720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A6B7B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294376"/>
            <a:ext cx="246888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4E4E"/>
                </a:solidFill>
                <a:latin typeface="Calibri"/>
              </a:rPr>
              <a:t>DEVICE_EXPOSURE / custom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294376"/>
            <a:ext cx="4114800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7B"/>
                </a:solidFill>
                <a:latin typeface="Calibri"/>
              </a:rPr>
              <a:t>Harder than scoped — full lifecycle not yet explored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217920"/>
            <a:ext cx="1078992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A6B7B"/>
                </a:solidFill>
                <a:latin typeface="Calibri"/>
              </a:rPr>
              <a:t>Common theme: no standard-vocabulary crosswalk exists anywhere in CIT_UDM — every code needs hand-mapping.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7D8"/>
                </a:solidFill>
                <a:latin typeface="Calibri"/>
              </a:rP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Incremental Load &amp; Data Contracts</a:t>
            </a:r>
          </a:p>
        </p:txBody>
      </p:sp>
      <p:sp>
        <p:nvSpPr>
          <p:cNvPr id="7" name="Oval 6"/>
          <p:cNvSpPr/>
          <p:nvPr/>
        </p:nvSpPr>
        <p:spPr>
          <a:xfrm>
            <a:off x="11658600" y="6473952"/>
            <a:ext cx="292608" cy="292608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097280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7B"/>
                </a:solidFill>
                <a:latin typeface="Calibri"/>
              </a:rPr>
              <a:t>Problem: a full re-pull from production Oracle on every run doesn't scale as CIT_UDM keeps growing.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943100" y="2240280"/>
            <a:ext cx="731520" cy="731520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324612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F2C4C"/>
                </a:solidFill>
                <a:latin typeface="Calibri"/>
              </a:rPr>
              <a:t>Load strategy per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3154680" cy="7315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A6B7B"/>
                </a:solidFill>
                <a:latin typeface="Calibri"/>
              </a:rPr>
              <a:t>merge (upsert), append, or full_refresh — chosen per table based on verified key uniqueness.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737860" y="2240280"/>
            <a:ext cx="731520" cy="731520"/>
          </a:xfrm>
          <a:prstGeom prst="ellipse">
            <a:avLst/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108960"/>
            <a:ext cx="324612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F2C4C"/>
                </a:solidFill>
                <a:latin typeface="Calibri"/>
              </a:rPr>
              <a:t>Watermark-based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566160"/>
            <a:ext cx="3154680" cy="7315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A6B7B"/>
                </a:solidFill>
                <a:latin typeface="Calibri"/>
              </a:rPr>
              <a:t>SYS_ETL_DATE / LAST_UPDATE_DATE — only pulls new/changed rows after the first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1168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32620" y="2240280"/>
            <a:ext cx="731520" cy="731520"/>
          </a:xfrm>
          <a:prstGeom prst="ellipse">
            <a:avLst/>
          </a:prstGeom>
          <a:solidFill>
            <a:srgbClr val="D9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108960"/>
            <a:ext cx="324612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F2C4C"/>
                </a:solidFill>
                <a:latin typeface="Calibri"/>
              </a:rPr>
              <a:t>Schema-drift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566160"/>
            <a:ext cx="3154680" cy="7315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A6B7B"/>
                </a:solidFill>
                <a:latin typeface="Calibri"/>
              </a:rPr>
              <a:t>Fails loudly if a column the pipeline depends on disappears from Oracle.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0916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1463040" cy="73152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9E5B"/>
                </a:solidFill>
                <a:latin typeface="Calibri"/>
              </a:rPr>
              <a:t>7 /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46320"/>
            <a:ext cx="3474720" cy="7772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B33"/>
                </a:solidFill>
                <a:latin typeface="Calibri"/>
              </a:rPr>
              <a:t>raw tables use merge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B33"/>
                </a:solidFill>
                <a:latin typeface="Calibri"/>
              </a:rPr>
              <a:t>(safe, verified-unique keys)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470916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4846320"/>
            <a:ext cx="1463040" cy="73152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8E1E"/>
                </a:solidFill>
                <a:latin typeface="Calibri"/>
              </a:rPr>
              <a:t>1 /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846320"/>
            <a:ext cx="3474720" cy="7772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B33"/>
                </a:solidFill>
                <a:latin typeface="Calibri"/>
              </a:rPr>
              <a:t>demographics stays full_refresh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B33"/>
                </a:solidFill>
                <a:latin typeface="Calibri"/>
              </a:rPr>
              <a:t>(141 duplicate natural keys found)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89320"/>
            <a:ext cx="1078992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7B"/>
                </a:solidFill>
                <a:latin typeface="Calibri"/>
              </a:rPr>
              <a:t>Postgres promotion stays full drop-and-recreate on purpose — cheap &amp; local; the real risk (hitting shared production Oracle) is what incremental load solves.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7D8"/>
                </a:solidFill>
                <a:latin typeface="Calibri"/>
              </a:rPr>
              <a:t>DECISIONS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Open Questions Needing Sign-Off</a:t>
            </a:r>
          </a:p>
        </p:txBody>
      </p:sp>
      <p:sp>
        <p:nvSpPr>
          <p:cNvPr id="7" name="Oval 6"/>
          <p:cNvSpPr/>
          <p:nvPr/>
        </p:nvSpPr>
        <p:spPr>
          <a:xfrm>
            <a:off x="11658600" y="6473952"/>
            <a:ext cx="292608" cy="292608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1668780"/>
            <a:ext cx="502920" cy="502920"/>
          </a:xfrm>
          <a:prstGeom prst="ellipse">
            <a:avLst/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9784080" cy="768096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Visit concept choice — force-fitting all HCT/CT admissions to “Inpatient Visit” (9201). Lossy but preserves OHDSI network-study compatibility. Confirm or revisit?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688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" y="2674620"/>
            <a:ext cx="502920" cy="502920"/>
          </a:xfrm>
          <a:prstGeom prst="ellipse">
            <a:avLst/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42032"/>
            <a:ext cx="9784080" cy="768096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v1 scope / coverage target — what % of concept_id ≠ 0 is “done enough” to call a domain complete?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7472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5800" y="3680460"/>
            <a:ext cx="502920" cy="502920"/>
          </a:xfrm>
          <a:prstGeom prst="ellipse">
            <a:avLst/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47872"/>
            <a:ext cx="9784080" cy="768096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PROCEDURE vs. DRUG_EXPOSURE triage — no source-side field found yet; still fully manual, code-by-code.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5800" y="4686300"/>
            <a:ext cx="502920" cy="502920"/>
          </a:xfrm>
          <a:prstGeom prst="ellipse">
            <a:avLst/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53712"/>
            <a:ext cx="9784080" cy="768096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VISIT_DETAIL vs. flattened visit-walk — OMOP's VISIT_DETAIL has a self-referencing parent field that could preserve EVENT's full hierarchy instead of flattening. Worth the added complexity?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864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5800" y="5692140"/>
            <a:ext cx="502920" cy="502920"/>
          </a:xfrm>
          <a:prstGeom prst="ellipse">
            <a:avLst/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59552"/>
            <a:ext cx="9784080" cy="768096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B33"/>
                </a:solidFill>
                <a:latin typeface="Calibri"/>
              </a:rPr>
              <a:t>FDM-to-UDM completeness — does TABLE_MAPPINGS_SPECS_*/VARIABLE_DEFINITION guarantee UDM faithfully represents FDM, or could gaps silently propagate into OMOP?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7D8"/>
                </a:solidFill>
                <a:latin typeface="Calibri"/>
              </a:rPr>
              <a:t>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Path to Postgres</a:t>
            </a:r>
          </a:p>
        </p:txBody>
      </p:sp>
      <p:sp>
        <p:nvSpPr>
          <p:cNvPr id="7" name="Oval 6"/>
          <p:cNvSpPr/>
          <p:nvPr/>
        </p:nvSpPr>
        <p:spPr>
          <a:xfrm>
            <a:off x="11658600" y="6473952"/>
            <a:ext cx="292608" cy="292608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1600200"/>
            <a:ext cx="36576" cy="416052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1554480"/>
            <a:ext cx="9966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1618488"/>
            <a:ext cx="950976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C4C"/>
                </a:solidFill>
                <a:latin typeface="Calibri"/>
              </a:rPr>
              <a:t>Create 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47672"/>
            <a:ext cx="9509760" cy="5486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7B"/>
                </a:solidFill>
                <a:latin typeface="Calibri"/>
              </a:rPr>
              <a:t>~/.config/ohdsi/postgres.env (outside the repo, mode 600) — same pattern already used for Oracle.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697480"/>
            <a:ext cx="548640" cy="54864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2651760"/>
            <a:ext cx="9966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2715768"/>
            <a:ext cx="950976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C4C"/>
                </a:solidFill>
                <a:latin typeface="Calibri"/>
              </a:rPr>
              <a:t>Run the promotion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044952"/>
            <a:ext cx="9509760" cy="5486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7B"/>
                </a:solidFill>
                <a:latin typeface="Calibri"/>
              </a:rPr>
              <a:t>python load_to_postgres.py --all — promotes every validated omop.* table from DuckDB in one command.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794760"/>
            <a:ext cx="548640" cy="54864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3749040"/>
            <a:ext cx="9966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5920" y="3813048"/>
            <a:ext cx="950976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C4C"/>
                </a:solidFill>
                <a:latin typeface="Calibri"/>
              </a:rPr>
              <a:t>Re-run anytime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142232"/>
            <a:ext cx="9509760" cy="5486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7B"/>
                </a:solidFill>
                <a:latin typeface="Calibri"/>
              </a:rPr>
              <a:t>Always a full, safe replace; nothing here touches Oracle.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892040"/>
            <a:ext cx="548640" cy="54864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4846320"/>
            <a:ext cx="9966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4910328"/>
            <a:ext cx="950976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C4C"/>
                </a:solidFill>
                <a:latin typeface="Calibri"/>
              </a:rPr>
              <a:t>Keep it current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239512"/>
            <a:ext cx="9509760" cy="5486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7B"/>
                </a:solidFill>
                <a:latin typeface="Calibri"/>
              </a:rPr>
              <a:t>build_raw_layer.py (incremental) → run_sql.py per domain → load_to_postgres.py --all.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6172200"/>
            <a:ext cx="10881360" cy="36576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Data-governance: synthetic test data planned — fully synthetic, local-only, no real CIT_UDM values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7D8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Proposed Next Steps</a:t>
            </a:r>
          </a:p>
        </p:txBody>
      </p:sp>
      <p:sp>
        <p:nvSpPr>
          <p:cNvPr id="7" name="Oval 6"/>
          <p:cNvSpPr/>
          <p:nvPr/>
        </p:nvSpPr>
        <p:spPr>
          <a:xfrm>
            <a:off x="11658600" y="6473952"/>
            <a:ext cx="292608" cy="292608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11880" cy="502920"/>
          </a:xfrm>
          <a:prstGeom prst="roundRect">
            <a:avLst>
              <a:gd name="adj" fmla="val 15000"/>
            </a:avLst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Near-term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148840"/>
            <a:ext cx="3282696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2971800" cy="10058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B33"/>
                </a:solidFill>
                <a:latin typeface="Calibri"/>
              </a:rPr>
              <a:t>Wire PERSON_RELATION into procedure_occurrence — real allo/auto concept IDs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520440"/>
            <a:ext cx="3282696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30168"/>
            <a:ext cx="2971800" cy="10058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B33"/>
                </a:solidFill>
                <a:latin typeface="Calibri"/>
              </a:rPr>
              <a:t>Wire CONDITION_DETAILS/PROCEDURE_DETAILS via FACT_RELATIONSHIP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6304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97680" y="1463040"/>
            <a:ext cx="3611880" cy="502920"/>
          </a:xfrm>
          <a:prstGeom prst="roundRect">
            <a:avLst>
              <a:gd name="adj" fmla="val 15000"/>
            </a:avLst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536192"/>
            <a:ext cx="333756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Medium-term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2148840"/>
            <a:ext cx="3282696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2258568"/>
            <a:ext cx="2971800" cy="10058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B33"/>
                </a:solidFill>
                <a:latin typeface="Calibri"/>
              </a:rPr>
              <a:t>Vocabulary mapping pass (Usagi-assisted) for PROCEDURE/CONDITION/OBSERVATION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3520440"/>
            <a:ext cx="3282696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3630168"/>
            <a:ext cx="2971800" cy="10058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B33"/>
                </a:solidFill>
                <a:latin typeface="Calibri"/>
              </a:rPr>
              <a:t>Build MEASUREMENT/OBSERVATION, DRUG_EXPOSURE, CARE_SITE/LOCATION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46304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92440" y="1463040"/>
            <a:ext cx="3611880" cy="502920"/>
          </a:xfrm>
          <a:prstGeom prst="roundRect">
            <a:avLst>
              <a:gd name="adj" fmla="val 15000"/>
            </a:avLst>
          </a:prstGeom>
          <a:solidFill>
            <a:srgbClr val="D9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1536192"/>
            <a:ext cx="3337560" cy="3657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Need from the team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7032" y="2148840"/>
            <a:ext cx="3282696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2258568"/>
            <a:ext cx="2971800" cy="10058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B33"/>
                </a:solidFill>
                <a:latin typeface="Calibri"/>
              </a:rPr>
              <a:t>Postgres environment details, once available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2" y="3520440"/>
            <a:ext cx="3282696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3630168"/>
            <a:ext cx="2971800" cy="10058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B33"/>
                </a:solidFill>
                <a:latin typeface="Calibri"/>
              </a:rPr>
              <a:t>Sign-off on open questions (previous slide)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2" y="4892040"/>
            <a:ext cx="3282696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5001768"/>
            <a:ext cx="2971800" cy="10058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B33"/>
                </a:solidFill>
                <a:latin typeface="Calibri"/>
              </a:rPr>
              <a:t>Time with Sean/Dee on realistic UDM/FDM extension scope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840480" cy="3840480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365760" y="5120640"/>
            <a:ext cx="2011680" cy="2011680"/>
          </a:xfrm>
          <a:prstGeom prst="ellipse">
            <a:avLst/>
          </a:prstGeom>
          <a:solidFill>
            <a:srgbClr val="17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E0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Questions /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CFDDE8"/>
                </a:solidFill>
                <a:latin typeface="Calibri"/>
              </a:rPr>
              <a:t>UDM → OMOP CDM v5.4  ·  etl_omop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24128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2000" cy="36576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2560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00" b="1">
                <a:solidFill>
                  <a:srgbClr val="00A699"/>
                </a:solidFill>
                <a:latin typeface="Aptos"/>
              </a:defRPr>
            </a:pPr>
            <a:r>
              <a:t>IMPLEMENTATION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78638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Where the Mappings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393192"/>
            <a:ext cx="3246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Aptos"/>
              </a:defRPr>
            </a:pPr>
            <a:r>
              <a:t>Field logic vs. vocabulary crosswalks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73152" cy="1417320"/>
          </a:xfrm>
          <a:prstGeom prst="rect">
            <a:avLst/>
          </a:prstGeom>
          <a:solidFill>
            <a:srgbClr val="34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3154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1">
                <a:solidFill>
                  <a:srgbClr val="12324A"/>
                </a:solidFill>
                <a:latin typeface="Aptos"/>
              </a:defRPr>
            </a:pPr>
            <a:r>
              <a:t>1  Source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19072"/>
            <a:ext cx="31546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50" b="0">
                <a:solidFill>
                  <a:srgbClr val="5B6B76"/>
                </a:solidFill>
                <a:latin typeface="Aptos"/>
              </a:defRPr>
            </a:pPr>
            <a:r>
              <a:t>Oracle CIT_UDM tables are copied 1:1 into DuckDB raw.*. No mapping occurs during extraction.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76856"/>
            <a:ext cx="3154680" cy="274320"/>
          </a:xfrm>
          <a:prstGeom prst="roundRect">
            <a:avLst>
              <a:gd name="adj" fmla="val 8000"/>
            </a:avLst>
          </a:prstGeom>
          <a:solidFill>
            <a:srgbClr val="F6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>
              <a:defRPr sz="850">
                <a:solidFill>
                  <a:srgbClr val="1E2D39"/>
                </a:solidFill>
                <a:latin typeface="Menlo"/>
              </a:defRPr>
            </a:pPr>
            <a:r>
              <a:t>etl_omop/python/build_raw_layer.py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73152" cy="141732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408176"/>
            <a:ext cx="3154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1">
                <a:solidFill>
                  <a:srgbClr val="12324A"/>
                </a:solidFill>
                <a:latin typeface="Aptos"/>
              </a:defRPr>
            </a:pPr>
            <a:r>
              <a:t>2  Field transformations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719072"/>
            <a:ext cx="31546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50" b="0">
                <a:solidFill>
                  <a:srgbClr val="5B6B76"/>
                </a:solidFill>
                <a:latin typeface="Aptos"/>
              </a:defRPr>
            </a:pPr>
            <a:r>
              <a:t>The authoritative source-to-OMOP column mappings, filters, fallbacks, and generated IDs live 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276856"/>
            <a:ext cx="3154680" cy="274320"/>
          </a:xfrm>
          <a:prstGeom prst="roundRect">
            <a:avLst>
              <a:gd name="adj" fmla="val 8000"/>
            </a:avLst>
          </a:prstGeom>
          <a:solidFill>
            <a:srgbClr val="F6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>
              <a:defRPr sz="850">
                <a:solidFill>
                  <a:srgbClr val="1E2D39"/>
                </a:solidFill>
                <a:latin typeface="Menlo"/>
              </a:defRPr>
            </a:pPr>
            <a:r>
              <a:t>etl_omop/sql/&lt;domain&gt;/build_omop_*.sql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8016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73152" cy="1417320"/>
          </a:xfrm>
          <a:prstGeom prst="rect">
            <a:avLst/>
          </a:prstGeom>
          <a:solidFill>
            <a:srgbClr val="2A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08176"/>
            <a:ext cx="3154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1">
                <a:solidFill>
                  <a:srgbClr val="12324A"/>
                </a:solidFill>
                <a:latin typeface="Aptos"/>
              </a:defRPr>
            </a:pPr>
            <a:r>
              <a:t>3  OMOP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719072"/>
            <a:ext cx="31546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50" b="0">
                <a:solidFill>
                  <a:srgbClr val="5B6B76"/>
                </a:solidFill>
                <a:latin typeface="Aptos"/>
              </a:defRPr>
            </a:pPr>
            <a:r>
              <a:t>Each transform rebuilds a validated omop.* table in the local DuckDB sandbox before promotion.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2276856"/>
            <a:ext cx="3154680" cy="274320"/>
          </a:xfrm>
          <a:prstGeom prst="roundRect">
            <a:avLst>
              <a:gd name="adj" fmla="val 8000"/>
            </a:avLst>
          </a:prstGeom>
          <a:solidFill>
            <a:srgbClr val="F6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>
              <a:defRPr sz="850">
                <a:solidFill>
                  <a:srgbClr val="1E2D39"/>
                </a:solidFill>
                <a:latin typeface="Menlo"/>
              </a:defRPr>
            </a:pPr>
            <a:r>
              <a:t>~/.local/share/ohdsi/udm_omop.duckdb</a:t>
            </a:r>
          </a:p>
        </p:txBody>
      </p:sp>
      <p:sp>
        <p:nvSpPr>
          <p:cNvPr id="22" name="Chevron 21"/>
          <p:cNvSpPr/>
          <p:nvPr/>
        </p:nvSpPr>
        <p:spPr>
          <a:xfrm>
            <a:off x="4096512" y="1847088"/>
            <a:ext cx="164592" cy="256032"/>
          </a:xfrm>
          <a:prstGeom prst="chevron">
            <a:avLst/>
          </a:prstGeom>
          <a:solidFill>
            <a:srgbClr val="5B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7936992" y="1847088"/>
            <a:ext cx="164592" cy="256032"/>
          </a:xfrm>
          <a:prstGeom prst="chevron">
            <a:avLst/>
          </a:prstGeom>
          <a:solidFill>
            <a:srgbClr val="5B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2962656"/>
            <a:ext cx="55321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962656"/>
            <a:ext cx="73152" cy="1325880"/>
          </a:xfrm>
          <a:prstGeom prst="rect">
            <a:avLst/>
          </a:prstGeom>
          <a:solidFill>
            <a:srgbClr val="34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090672"/>
            <a:ext cx="5074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1">
                <a:solidFill>
                  <a:srgbClr val="12324A"/>
                </a:solidFill>
                <a:latin typeface="Aptos"/>
              </a:defRPr>
            </a:pPr>
            <a:r>
              <a:t>Field mapping index and rationale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401568"/>
            <a:ext cx="5074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50" b="0">
                <a:solidFill>
                  <a:srgbClr val="5B6B76"/>
                </a:solidFill>
                <a:latin typeface="Aptos"/>
              </a:defRPr>
            </a:pPr>
            <a:r>
              <a:t>OMOP_MAPPING provides a source-column inventory. DECISIONS records why each rule was chosen; STATUS records current completion and caveats.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867912"/>
            <a:ext cx="5074920" cy="274320"/>
          </a:xfrm>
          <a:prstGeom prst="roundRect">
            <a:avLst>
              <a:gd name="adj" fmla="val 8000"/>
            </a:avLst>
          </a:prstGeom>
          <a:solidFill>
            <a:srgbClr val="F6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>
              <a:defRPr sz="850">
                <a:solidFill>
                  <a:srgbClr val="1E2D39"/>
                </a:solidFill>
                <a:latin typeface="Menlo"/>
              </a:defRPr>
            </a:pPr>
            <a:r>
              <a:t>python/generate_field_inventory.py  |  DECISIONS.md  |  STATUS.md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962656"/>
            <a:ext cx="55321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962656"/>
            <a:ext cx="73152" cy="1325880"/>
          </a:xfrm>
          <a:prstGeom prst="rect">
            <a:avLst/>
          </a:prstGeom>
          <a:solidFill>
            <a:srgbClr val="F09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090672"/>
            <a:ext cx="5074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1">
                <a:solidFill>
                  <a:srgbClr val="12324A"/>
                </a:solidFill>
                <a:latin typeface="Aptos"/>
              </a:defRPr>
            </a:pPr>
            <a:r>
              <a:t>Custom vocabulary definitions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401568"/>
            <a:ext cx="5074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50" b="0">
                <a:solidFill>
                  <a:srgbClr val="5B6B76"/>
                </a:solidFill>
                <a:latin typeface="Aptos"/>
              </a:defRPr>
            </a:pPr>
            <a:r>
              <a:t>CIBMTR-UDM concept definitions exist for VariableName, KVS_KEY, RetrievalName, and CDOptionGroup. Athena CONCEPT.csv is the standard lookup source.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3867912"/>
            <a:ext cx="5074920" cy="274320"/>
          </a:xfrm>
          <a:prstGeom prst="roundRect">
            <a:avLst>
              <a:gd name="adj" fmla="val 8000"/>
            </a:avLst>
          </a:prstGeom>
          <a:solidFill>
            <a:srgbClr val="F6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>
              <a:defRPr sz="850">
                <a:solidFill>
                  <a:srgbClr val="1E2D39"/>
                </a:solidFill>
                <a:latin typeface="Menlo"/>
              </a:defRPr>
            </a:pPr>
            <a:r>
              <a:t>omop_vocab/CIBMTR_source_files/CONCEPT_CIBMTR-UDM-*.csv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53712"/>
            <a:ext cx="11292840" cy="1417320"/>
          </a:xfrm>
          <a:prstGeom prst="roundRect">
            <a:avLst>
              <a:gd name="adj" fmla="val 5000"/>
            </a:avLst>
          </a:prstGeom>
          <a:solidFill>
            <a:srgbClr val="FFF6F4"/>
          </a:solidFill>
          <a:ln w="15240">
            <a:solidFill>
              <a:srgbClr val="D24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3232" y="4818888"/>
            <a:ext cx="438912" cy="438912"/>
          </a:xfrm>
          <a:prstGeom prst="ellipse">
            <a:avLst/>
          </a:prstGeom>
          <a:solidFill>
            <a:srgbClr val="D2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2" y="4681728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500" b="1">
                <a:solidFill>
                  <a:srgbClr val="D24843"/>
                </a:solidFill>
                <a:latin typeface="Aptos"/>
              </a:defRPr>
            </a:pPr>
            <a:r>
              <a:t>Missing: UDM-to-standard crosswalk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312" y="5010912"/>
            <a:ext cx="9875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100" b="0">
                <a:solidFill>
                  <a:srgbClr val="1E2D39"/>
                </a:solidFill>
                <a:latin typeface="Aptos"/>
              </a:defRPr>
            </a:pPr>
            <a:r>
              <a:t>No UDM-specific CONCEPT_RELATIONSHIP file currently maps PROCEDURE, CONDITION, or OBSERVATION codes to standard SNOMED/LOINC concepts. Those concept_id fields therefore remain 0 in the current ETL. Existing hardcoded mappings cover sex, ethnicity, visit type, and registry type concepts only.</a:t>
            </a:r>
          </a:p>
        </p:txBody>
      </p:sp>
      <p:sp>
        <p:nvSpPr>
          <p:cNvPr id="38" name="Oval 37"/>
          <p:cNvSpPr/>
          <p:nvPr/>
        </p:nvSpPr>
        <p:spPr>
          <a:xfrm>
            <a:off x="11594592" y="6446520"/>
            <a:ext cx="256032" cy="256032"/>
          </a:xfrm>
          <a:prstGeom prst="ellipse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1333</Words>
  <Application>Microsoft Macintosh PowerPoint</Application>
  <PresentationFormat>Widescreen</PresentationFormat>
  <Paragraphs>218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Jonbright Anyaibe</cp:lastModifiedBy>
  <cp:revision>1</cp:revision>
  <dcterms:created xsi:type="dcterms:W3CDTF">2013-01-27T09:14:16Z</dcterms:created>
  <dcterms:modified xsi:type="dcterms:W3CDTF">2026-09-08T21:09:19Z</dcterms:modified>
  <cp:category/>
</cp:coreProperties>
</file>